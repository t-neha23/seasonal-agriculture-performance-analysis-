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15" r:id="rId7"/>
    <p:sldId id="329" r:id="rId8"/>
    <p:sldId id="302" r:id="rId9"/>
    <p:sldId id="346" r:id="rId10"/>
    <p:sldId id="350" r:id="rId11"/>
    <p:sldId id="351" r:id="rId12"/>
    <p:sldId id="352" r:id="rId13"/>
    <p:sldId id="349" r:id="rId14"/>
    <p:sldId id="348" r:id="rId15"/>
    <p:sldId id="347" r:id="rId16"/>
    <p:sldId id="339" r:id="rId17"/>
    <p:sldId id="345" r:id="rId18"/>
    <p:sldId id="341" r:id="rId19"/>
    <p:sldId id="342" r:id="rId20"/>
    <p:sldId id="34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2E35A-2596-497D-B768-3234F4E9616F}" v="527" dt="2026-09-09T18:34:45.595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5046" y="4294253"/>
            <a:ext cx="6008971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Submitted by:</a:t>
            </a:r>
          </a:p>
          <a:p>
            <a:r>
              <a:rPr lang="en-US" b="0" dirty="0">
                <a:solidFill>
                  <a:schemeClr val="tx1"/>
                </a:solidFill>
                <a:latin typeface="Times New Roman"/>
                <a:cs typeface="Times New Roman"/>
              </a:rPr>
              <a:t>Neha T</a:t>
            </a: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b="0" dirty="0">
                <a:solidFill>
                  <a:schemeClr val="tx1"/>
                </a:solidFill>
                <a:latin typeface="Times New Roman"/>
                <a:cs typeface="Times New Roman"/>
              </a:rPr>
              <a:t>Sri Venkateshwara College of Engineering, Bangalore</a:t>
            </a:r>
          </a:p>
          <a:p>
            <a:r>
              <a:rPr lang="en-US" b="0" dirty="0">
                <a:solidFill>
                  <a:schemeClr val="tx1"/>
                </a:solidFill>
                <a:latin typeface="Times New Roman"/>
                <a:cs typeface="Times New Roman"/>
              </a:rPr>
              <a:t>AICTE STU ID : </a:t>
            </a:r>
            <a:r>
              <a:rPr lang="en-US" b="0" dirty="0">
                <a:solidFill>
                  <a:srgbClr val="020617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STU6a6981c5278a51785299397</a:t>
            </a:r>
            <a:endParaRPr lang="en-US" b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b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11" y="2999735"/>
            <a:ext cx="8188786" cy="859683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Seasonal Agriculture Performance Analysis</a:t>
            </a:r>
            <a:endParaRPr lang="en-US" b="1">
              <a:solidFill>
                <a:schemeClr val="accent2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5294" y="2095115"/>
            <a:ext cx="7309517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Agricultural performance is influenced by seasonal changes in environmental conditions, farming practices, resource availability, and market conditions.</a:t>
            </a:r>
            <a:endParaRPr lang="en-IN" sz="1800">
              <a:latin typeface="Times New Roman"/>
              <a:cs typeface="Times New Roman"/>
            </a:endParaRPr>
          </a:p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These factors can cause variations in agricultural performance across different seasons.</a:t>
            </a:r>
            <a:endParaRPr lang="en-IN" sz="1800">
              <a:latin typeface="Times New Roman"/>
              <a:cs typeface="Times New Roman"/>
            </a:endParaRPr>
          </a:p>
          <a:p>
            <a:r>
              <a:rPr lang="en-IN" sz="1800" dirty="0">
                <a:latin typeface="Times New Roman"/>
                <a:ea typeface="+mn-lt"/>
                <a:cs typeface="Times New Roman"/>
              </a:rPr>
              <a:t>However, raw agricultural data does not clearly reveal these seasonal patterns, trends, and relationships.</a:t>
            </a:r>
            <a:endParaRPr lang="en-IN" sz="1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/>
                <a:ea typeface="+mn-lt"/>
                <a:cs typeface="Times New Roman"/>
              </a:rPr>
              <a:t>Therefore, this project aims to analyse the agricultural dataset and identify meaningful seasonal differences, trends, relationships, and variations in agricultural performance.</a:t>
            </a:r>
            <a:endParaRPr lang="en-IN" sz="1800">
              <a:latin typeface="Times New Roman"/>
              <a:cs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76000"/>
                  </a:schemeClr>
                </a:solidFill>
              </a:rPr>
              <a:t>PROBLEM  STATEMENT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598466" y="6484836"/>
            <a:ext cx="2143125" cy="18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495" y="829403"/>
            <a:ext cx="5163347" cy="891473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Project Description</a:t>
            </a:r>
            <a:br>
              <a:rPr lang="en-GB" dirty="0">
                <a:solidFill>
                  <a:schemeClr val="accent2">
                    <a:lumMod val="76000"/>
                  </a:schemeClr>
                </a:solidFill>
              </a:rPr>
            </a:br>
            <a:endParaRPr lang="en-GB" dirty="0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A344DD-566E-5529-B0FF-859808F572F5}"/>
              </a:ext>
            </a:extLst>
          </p:cNvPr>
          <p:cNvSpPr txBox="1"/>
          <p:nvPr/>
        </p:nvSpPr>
        <p:spPr>
          <a:xfrm>
            <a:off x="471716" y="2086428"/>
            <a:ext cx="9035141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Analyzes agricultural performance across different seasons. 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Examines farming practices, environmental conditions, resource usage, crop production, and economic performance.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Performs data cleaning and preparation for reliable analysis. 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Uses statistical analysis and data visualization to identify seasonal patterns and trends. 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Compares different seasons to identify variations, relationships, and significant differences. 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Derives data-driven insights and recommendations for better seasonal agricultural planning.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597" y="1955075"/>
            <a:ext cx="8303623" cy="40142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IN" b="1" dirty="0">
                <a:latin typeface="Times New Roman"/>
                <a:ea typeface="+mn-lt"/>
                <a:cs typeface="Times New Roman"/>
              </a:rPr>
              <a:t>Farmers &amp; Agricultural Producers: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Understand seasonal performance and improve farming decisions.</a:t>
            </a:r>
            <a:endParaRPr lang="en-IN">
              <a:latin typeface="Times New Roman"/>
              <a:cs typeface="Times New Roman"/>
            </a:endParaRPr>
          </a:p>
          <a:p>
            <a:pPr algn="just"/>
            <a:r>
              <a:rPr lang="en-IN" b="1" dirty="0">
                <a:latin typeface="Times New Roman"/>
                <a:ea typeface="+mn-lt"/>
                <a:cs typeface="Times New Roman"/>
              </a:rPr>
              <a:t>Agricultural Planners &amp; Government Agencies: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Support evidence-based seasonal agricultural planning.</a:t>
            </a:r>
            <a:endParaRPr lang="en-IN" dirty="0">
              <a:latin typeface="Times New Roman"/>
              <a:cs typeface="Times New Roman"/>
            </a:endParaRPr>
          </a:p>
          <a:p>
            <a:pPr algn="just"/>
            <a:r>
              <a:rPr lang="en-IN" b="1" dirty="0">
                <a:latin typeface="Times New Roman"/>
                <a:ea typeface="+mn-lt"/>
                <a:cs typeface="Times New Roman"/>
              </a:rPr>
              <a:t>Agricultural Organizations &amp; Cooperatives: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Compare seasonal trends and resource usage.</a:t>
            </a:r>
            <a:endParaRPr lang="en-IN" dirty="0">
              <a:latin typeface="Times New Roman"/>
              <a:cs typeface="Times New Roman"/>
            </a:endParaRPr>
          </a:p>
          <a:p>
            <a:pPr algn="just"/>
            <a:r>
              <a:rPr lang="en-IN" b="1" dirty="0">
                <a:latin typeface="Times New Roman"/>
                <a:ea typeface="+mn-lt"/>
                <a:cs typeface="Times New Roman"/>
              </a:rPr>
              <a:t>Agricultural Analysts &amp; Researchers: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Study patterns, relationships, and variations in agricultural data.</a:t>
            </a:r>
            <a:endParaRPr lang="en-IN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Agribusiness &amp; Market Stakeholders: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Understand seasonal economic and production trends.</a:t>
            </a: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>
                    <a:lumMod val="76000"/>
                  </a:schemeClr>
                </a:solidFill>
              </a:rPr>
              <a:t>WHO ARE THE END USERS?</a:t>
            </a:r>
            <a:endParaRPr lang="en-IN" sz="2000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accent2">
                    <a:lumMod val="76000"/>
                  </a:schemeClr>
                </a:solidFill>
              </a:rPr>
              <a:t>Technology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7C3C35-20A4-1A13-0B2F-ECB24871F112}"/>
              </a:ext>
            </a:extLst>
          </p:cNvPr>
          <p:cNvSpPr txBox="1"/>
          <p:nvPr/>
        </p:nvSpPr>
        <p:spPr>
          <a:xfrm>
            <a:off x="1778000" y="1717524"/>
            <a:ext cx="8077200" cy="35999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Python: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Data analysis and processing</a:t>
            </a:r>
            <a:endParaRPr lang="en-US" sz="28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Pandas &amp; NumPy: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Data manipulation and numerical analysis</a:t>
            </a:r>
          </a:p>
          <a:p>
            <a:pPr marL="342900" indent="-342900">
              <a:buFont typeface="Arial"/>
              <a:buChar char="•"/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Matplotlib &amp; Seaborn: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Data visualization</a:t>
            </a:r>
          </a:p>
          <a:p>
            <a:pPr marL="342900" indent="-342900">
              <a:buFont typeface="Arial"/>
              <a:buChar char="•"/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Scikit-learn: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Statistical/machine learning analysis</a:t>
            </a:r>
          </a:p>
          <a:p>
            <a:pPr marL="342900" indent="-342900">
              <a:buFont typeface="Arial"/>
              <a:buChar char="•"/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Jupyter Notebook: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Project development and documentation</a:t>
            </a:r>
          </a:p>
          <a:p>
            <a:pPr marL="342900" indent="-342900">
              <a:buFont typeface="Arial"/>
              <a:buChar char="•"/>
            </a:pPr>
            <a:r>
              <a:rPr lang="en-US" sz="2800" b="1" dirty="0">
                <a:latin typeface="Times New Roman"/>
                <a:ea typeface="+mn-lt"/>
                <a:cs typeface="Times New Roman"/>
              </a:rPr>
              <a:t>CSV: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Dataset format</a:t>
            </a:r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A4D5A-9AAB-D332-CA7F-C72A12832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13E65C-BD32-0670-0392-48680EFC37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C01E6E3-B2BD-7DD1-62A0-8C12DFA2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RESULTS 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170F0B8-1186-6130-275E-6A715E4B1C2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A5F10BF-9878-E29F-9EF7-23A4C1B8BC2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BD03E1-2A74-CCEC-9F23-68CC66E98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61" y="1188282"/>
            <a:ext cx="9312879" cy="538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7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DA69D-AA35-FB27-9FE2-5F7386C8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5D79FA-B837-23AB-33EE-3D8F9D85D6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744D08F-1BB7-DC56-059E-52A2D802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RESULTS 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0D83BCF-C130-70CF-6F28-B38BE19056C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614CD3C-A015-7191-5ACF-1DF657704D5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373E4A-4690-E659-64F4-03B97852B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9196"/>
            <a:ext cx="12192000" cy="367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6830-DC45-311F-F0B2-AEE69262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B9710E-E351-F6D0-C02E-C25647CF9F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958467-9B8C-D24B-F840-BC4196250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RESULTS 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DD5C821-9DC6-7B6B-F81D-EF10A2FDC03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1E34B6D-A5D9-8176-14EC-DC82FC04201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2F2350-138E-3E36-AC2D-33B99AA74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756" y="1234134"/>
            <a:ext cx="8754927" cy="525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1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2145-DE1C-40AC-7F3B-7E28D76C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2128FE-25FE-FE5F-90D9-19ED711F2A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58343CA-844A-4A70-7D46-2C8A06EA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RESULTS 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C552508-47A8-2F5C-CF28-02B2D062814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FB1F1C8-1F8A-72EF-0F9D-A3938B7E4CB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143608-5037-B680-C946-0596A949E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164" y="1017318"/>
            <a:ext cx="9086687" cy="545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5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F2FE-5F34-51A2-3A08-09DCB291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B3104E-22B1-2732-B3F7-97593552A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43375D4-E559-0182-F4E7-77C87D78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RESULTS 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DAEBD0F-89D2-8BF4-4C1E-9B7FE9E545B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CBA9FCD-5AFF-ED53-5F7F-6ECB66CE185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74B3D3-25D6-9921-4499-8ED1BDFF7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618" y="1480911"/>
            <a:ext cx="6644670" cy="497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4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CE39-1179-2338-47C2-28457141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2AEA32-E4BF-B273-FF65-5D5FD6E28C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5B0C24-91A7-2545-6D9C-01216454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RESULTS 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3A3AB54-BAA3-78FA-B1A1-4338921D489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A9049C1-9A86-E616-8D26-8D50A8FBBF8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285A4E-4943-62D9-E480-EBA919F4E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10" y="1203459"/>
            <a:ext cx="6743377" cy="551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4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EF20-775B-77EF-7A68-8C5308A7D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B04808-35A3-0D1C-33A3-B16D2BF533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8FB5ED-7A37-BF77-1EDB-2F2C2741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RESULTS 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3BB4E81-FD8F-4C6C-0FC5-00A39532625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FFFA51-19CB-C6FD-8E06-E504ACC4A7F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4FB2E5-FC81-C04D-8707-99F0671CB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37" y="1059374"/>
            <a:ext cx="7478093" cy="560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5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RESULTS 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4638C4-5BCE-E37A-A3C4-9E5706E92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55" y="1010456"/>
            <a:ext cx="6964390" cy="565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DE81F-68AA-B4F3-AB88-C29F2056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1E66E1-B7E8-0915-F75C-35270B9D69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951989B-A541-5620-4149-741F79B6E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2">
                    <a:lumMod val="76000"/>
                  </a:schemeClr>
                </a:solidFill>
              </a:rPr>
              <a:t>RESULTS </a:t>
            </a:r>
            <a:endParaRPr lang="en-IN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18331B-50F7-2D89-58BA-9DE3932A9AF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AFF044B-8CDB-BBD4-1F98-D1D95B0695B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B5F56B-FA30-E6BD-2575-0BDDC5272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26" y="1196032"/>
            <a:ext cx="6899651" cy="499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9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52" y="1205160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6000"/>
                  </a:schemeClr>
                </a:solidFill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F5DEC-3667-C298-257B-7714E781D834}"/>
              </a:ext>
            </a:extLst>
          </p:cNvPr>
          <p:cNvSpPr txBox="1"/>
          <p:nvPr/>
        </p:nvSpPr>
        <p:spPr>
          <a:xfrm>
            <a:off x="895047" y="2261809"/>
            <a:ext cx="834329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Use machine learning to predict crop performance in future seasons.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Include weather and climate data to understand their effect on agriculture.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Expand the project to compare different regions and farming conditions.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Study how water, fertilizers, and other resources can be used more efficiently.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Build an interactive dashboard so farmers and agricultural planners can easily understand the results.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Use more data over time to improve the accuracy and usefulness of the analysis.</a:t>
            </a: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205825"/>
            <a:ext cx="2143125" cy="66475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55065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6000"/>
                  </a:schemeClr>
                </a:solidFill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8EA203-4E0F-7C45-3D67-651DAC4D16F9}"/>
              </a:ext>
            </a:extLst>
          </p:cNvPr>
          <p:cNvSpPr txBox="1"/>
          <p:nvPr/>
        </p:nvSpPr>
        <p:spPr>
          <a:xfrm>
            <a:off x="1076475" y="3011715"/>
            <a:ext cx="865777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u="sng" dirty="0">
                <a:solidFill>
                  <a:schemeClr val="accent2">
                    <a:lumMod val="49000"/>
                  </a:schemeClr>
                </a:solidFill>
                <a:ea typeface="+mn-lt"/>
                <a:cs typeface="+mn-lt"/>
              </a:rPr>
              <a:t>https://github.com/t-neha23/Seasonal-Agriculture-Performance-Analysis-.git</a:t>
            </a:r>
            <a:endParaRPr lang="en-US" sz="2400" u="sng">
              <a:solidFill>
                <a:schemeClr val="accent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VOIS Course completion certificate: </a:t>
            </a:r>
            <a:br>
              <a:rPr lang="en-IN" sz="3200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</a:br>
            <a:r>
              <a:rPr lang="en-IN" sz="3200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Course name 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47DD6E-EA71-86A5-E58C-DC0A1FA94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64" y="1640237"/>
            <a:ext cx="9822087" cy="484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61" y="2740176"/>
            <a:ext cx="4820668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7200" b="1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Thank you</a:t>
            </a:r>
            <a:endParaRPr lang="en-US" sz="5400" b="1">
              <a:solidFill>
                <a:schemeClr val="accent2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Facet</vt:lpstr>
      <vt:lpstr>Seasonal Agriculture Performance Analysis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certificate:  Course name 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280</cp:revision>
  <dcterms:created xsi:type="dcterms:W3CDTF">2021-07-11T13:13:15Z</dcterms:created>
  <dcterms:modified xsi:type="dcterms:W3CDTF">2026-09-09T18:35:17Z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